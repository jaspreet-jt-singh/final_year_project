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lus Jakarta Sans ExtraBold"/>
      <p:bold r:id="rId21"/>
      <p:boldItalic r:id="rId22"/>
    </p:embeddedFont>
    <p:embeddedFont>
      <p:font typeface="Inter"/>
      <p:bold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Plus Jakarta Sans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PlusJakartaSansExtraBold-boldItalic.fntdata"/><Relationship Id="rId21" Type="http://schemas.openxmlformats.org/officeDocument/2006/relationships/font" Target="fonts/PlusJakartaSansExtraBold-bold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usJakartaSans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lusJakartaSansMedium-italic.fntdata"/><Relationship Id="rId30" Type="http://schemas.openxmlformats.org/officeDocument/2006/relationships/font" Target="fonts/PlusJakartaSansMedium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lusJakartaSans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2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614bfe738_22_4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614bfe738_22_5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614bfe738_22_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d614bfe738_22_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d614bfe738_22_4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93ff845d_6_0)">
  <p:cSld name="Generated (g3de93ff845d_6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2.jp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15.png"/><Relationship Id="rId5" Type="http://schemas.openxmlformats.org/officeDocument/2006/relationships/image" Target="../media/image21.jpg"/><Relationship Id="rId6" Type="http://schemas.openxmlformats.org/officeDocument/2006/relationships/image" Target="../media/image17.png"/><Relationship Id="rId7" Type="http://schemas.openxmlformats.org/officeDocument/2006/relationships/image" Target="../media/image19.jp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FT-J6ZYt1V1ptmSOwcR6mg8ieiQ0JYHG/view" TargetMode="External"/><Relationship Id="rId4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7620000" y="-381000"/>
            <a:ext cx="1905000" cy="1905000"/>
          </a:xfrm>
          <a:prstGeom prst="ellipse">
            <a:avLst/>
          </a:prstGeom>
          <a:solidFill>
            <a:srgbClr val="2563EB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4"/>
          <p:cNvGrpSpPr/>
          <p:nvPr/>
        </p:nvGrpSpPr>
        <p:grpSpPr>
          <a:xfrm>
            <a:off x="457200" y="381000"/>
            <a:ext cx="8229600" cy="371475"/>
            <a:chOff x="457200" y="381000"/>
            <a:chExt cx="8229600" cy="371475"/>
          </a:xfrm>
        </p:grpSpPr>
        <p:sp>
          <p:nvSpPr>
            <p:cNvPr id="19" name="Google Shape;19;p4"/>
            <p:cNvSpPr/>
            <p:nvPr/>
          </p:nvSpPr>
          <p:spPr>
            <a:xfrm>
              <a:off x="457200" y="381000"/>
              <a:ext cx="82296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 txBox="1"/>
            <p:nvPr/>
          </p:nvSpPr>
          <p:spPr>
            <a:xfrm>
              <a:off x="457200" y="523875"/>
              <a:ext cx="822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Mid-Term Project Presentation • Spring 2026 Session • B.Tech Computer Science • NIT Srinagar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1" name="Google Shape;21;p4"/>
          <p:cNvGrpSpPr/>
          <p:nvPr/>
        </p:nvGrpSpPr>
        <p:grpSpPr>
          <a:xfrm>
            <a:off x="457200" y="1047750"/>
            <a:ext cx="4762500" cy="1762125"/>
            <a:chOff x="457200" y="1047750"/>
            <a:chExt cx="4762500" cy="1762125"/>
          </a:xfrm>
        </p:grpSpPr>
        <p:sp>
          <p:nvSpPr>
            <p:cNvPr id="22" name="Google Shape;22;p4"/>
            <p:cNvSpPr txBox="1"/>
            <p:nvPr/>
          </p:nvSpPr>
          <p:spPr>
            <a:xfrm>
              <a:off x="457200" y="1047750"/>
              <a:ext cx="476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8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AI-Based Food</a:t>
              </a:r>
              <a:endParaRPr b="0" sz="408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8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Recognition</a:t>
              </a:r>
              <a:endParaRPr b="0" sz="408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23" name="Google Shape;23;p4"/>
            <p:cNvSpPr txBox="1"/>
            <p:nvPr/>
          </p:nvSpPr>
          <p:spPr>
            <a:xfrm>
              <a:off x="457200" y="242887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with Nutrition-Aware Recommendations</a:t>
              </a:r>
              <a:endParaRPr b="0" sz="180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</p:grpSp>
      <p:grpSp>
        <p:nvGrpSpPr>
          <p:cNvPr id="24" name="Google Shape;24;p4"/>
          <p:cNvGrpSpPr/>
          <p:nvPr/>
        </p:nvGrpSpPr>
        <p:grpSpPr>
          <a:xfrm>
            <a:off x="457200" y="3238500"/>
            <a:ext cx="4381500" cy="1333500"/>
            <a:chOff x="457200" y="3238500"/>
            <a:chExt cx="4381500" cy="1333500"/>
          </a:xfrm>
        </p:grpSpPr>
        <p:sp>
          <p:nvSpPr>
            <p:cNvPr id="25" name="Google Shape;25;p4"/>
            <p:cNvSpPr/>
            <p:nvPr/>
          </p:nvSpPr>
          <p:spPr>
            <a:xfrm>
              <a:off x="457200" y="3238500"/>
              <a:ext cx="4381500" cy="13335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 txBox="1"/>
            <p:nvPr/>
          </p:nvSpPr>
          <p:spPr>
            <a:xfrm>
              <a:off x="742950" y="3429000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Presented and made by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Jaspreet Singh </a:t>
              </a: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(2022BCSE019)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Inderpal Singh </a:t>
              </a:r>
              <a:r>
                <a:rPr b="0" lang="en-US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(2022BCSE037)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" name="Google Shape;27;p4"/>
          <p:cNvGrpSpPr/>
          <p:nvPr/>
        </p:nvGrpSpPr>
        <p:grpSpPr>
          <a:xfrm>
            <a:off x="5024438" y="3233738"/>
            <a:ext cx="3667200" cy="1343100"/>
            <a:chOff x="5024438" y="3233738"/>
            <a:chExt cx="3667200" cy="1343100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24438" y="3233738"/>
              <a:ext cx="3667200" cy="13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4"/>
            <p:cNvSpPr txBox="1"/>
            <p:nvPr/>
          </p:nvSpPr>
          <p:spPr>
            <a:xfrm>
              <a:off x="5314950" y="3429000"/>
              <a:ext cx="3086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Guide: </a:t>
              </a:r>
              <a:r>
                <a:rPr b="0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Dr. Lavanya Madhuri Bollipo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Co-Guide: </a:t>
              </a:r>
              <a:r>
                <a:rPr b="0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Dr. Insha Majeed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5248275" y="847725"/>
            <a:ext cx="3448200" cy="2114700"/>
            <a:chOff x="5248275" y="847725"/>
            <a:chExt cx="3448200" cy="2114700"/>
          </a:xfrm>
        </p:grpSpPr>
        <p:pic>
          <p:nvPicPr>
            <p:cNvPr id="31" name="Google Shape;31;p4"/>
            <p:cNvPicPr preferRelativeResize="0"/>
            <p:nvPr/>
          </p:nvPicPr>
          <p:blipFill rotWithShape="1">
            <a:blip r:embed="rId5">
              <a:alphaModFix/>
            </a:blip>
            <a:srcRect b="6355" l="0" r="0" t="6347"/>
            <a:stretch/>
          </p:blipFill>
          <p:spPr>
            <a:xfrm>
              <a:off x="5257800" y="857250"/>
              <a:ext cx="3429000" cy="2095500"/>
            </a:xfrm>
            <a:prstGeom prst="roundRect">
              <a:avLst>
                <a:gd fmla="val 10909" name="adj"/>
              </a:avLst>
            </a:prstGeom>
            <a:noFill/>
            <a:ln>
              <a:noFill/>
            </a:ln>
          </p:spPr>
        </p:pic>
        <p:pic>
          <p:nvPicPr>
            <p:cNvPr id="32" name="Google Shape;32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48275" y="847725"/>
              <a:ext cx="3448200" cy="2114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2636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457200" y="1503611"/>
            <a:ext cx="2621310" cy="2312491"/>
          </a:xfrm>
          <a:prstGeom prst="roundRect">
            <a:avLst>
              <a:gd fmla="val 5535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261271" y="1503611"/>
            <a:ext cx="2621310" cy="2312491"/>
          </a:xfrm>
          <a:prstGeom prst="roundRect">
            <a:avLst>
              <a:gd fmla="val 55358" name="adj"/>
            </a:avLst>
          </a:prstGeom>
          <a:solidFill>
            <a:srgbClr val="FFFFFF"/>
          </a:solidFill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065341" y="1503611"/>
            <a:ext cx="2621459" cy="2312491"/>
          </a:xfrm>
          <a:prstGeom prst="roundRect">
            <a:avLst>
              <a:gd fmla="val 5535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029373"/>
            <a:ext cx="8229600" cy="74384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457200" y="591294"/>
            <a:ext cx="8394192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58239" y="1756916"/>
            <a:ext cx="22192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Inter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58239" y="2450306"/>
            <a:ext cx="2219233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40"/>
              <a:buFont typeface="Plus Jakarta Sans"/>
              <a:buNone/>
            </a:pPr>
            <a:r>
              <a:rPr b="1" i="0" lang="en-US" sz="114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Growing Need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79996" y="2743646"/>
            <a:ext cx="217571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5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Food recognition and nutrition awareness are becoming essential for healthier dietary choices and active health monitoring.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462309" y="1775966"/>
            <a:ext cx="221923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Inter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🤖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462309" y="2469356"/>
            <a:ext cx="2219233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40"/>
              <a:buFont typeface="Plus Jakarta Sans"/>
              <a:buNone/>
            </a:pPr>
            <a:r>
              <a:rPr b="1" i="0" lang="en-US" sz="114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Project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484066" y="2762696"/>
            <a:ext cx="217571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5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AI-powered system focused on </a:t>
            </a:r>
            <a:r>
              <a:rPr b="1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Indian cuisine</a:t>
            </a: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that identifies food items from images and provides instant nutritional analysis.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266378" y="1756916"/>
            <a:ext cx="221938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Inter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266378" y="2450306"/>
            <a:ext cx="2219385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40"/>
              <a:buFont typeface="Plus Jakarta Sans"/>
              <a:buNone/>
            </a:pPr>
            <a:r>
              <a:rPr b="1" i="0" lang="en-US" sz="114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Goal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288137" y="2743646"/>
            <a:ext cx="217586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95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Combine food-image recognition with nutrition lookup into one practical, integrated system accessible through the web.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08571" y="4181773"/>
            <a:ext cx="7764959" cy="439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08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Users, especially in India, lack a simple tool to photograph a meal and instantly understand its nutritional composition.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457200" y="428625"/>
            <a:ext cx="839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Literature Review</a:t>
            </a:r>
            <a:endParaRPr b="1" sz="3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60" name="Google Shape;60;p6"/>
          <p:cNvGrpSpPr/>
          <p:nvPr/>
        </p:nvGrpSpPr>
        <p:grpSpPr>
          <a:xfrm>
            <a:off x="457200" y="1190625"/>
            <a:ext cx="3943200" cy="1428900"/>
            <a:chOff x="457200" y="1190625"/>
            <a:chExt cx="3943200" cy="1428900"/>
          </a:xfrm>
        </p:grpSpPr>
        <p:sp>
          <p:nvSpPr>
            <p:cNvPr id="61" name="Google Shape;61;p6"/>
            <p:cNvSpPr/>
            <p:nvPr/>
          </p:nvSpPr>
          <p:spPr>
            <a:xfrm>
              <a:off x="457200" y="119062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647700" y="138112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 txBox="1"/>
            <p:nvPr/>
          </p:nvSpPr>
          <p:spPr>
            <a:xfrm>
              <a:off x="762000" y="138112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Khana: A Comprehensive Indian Cuisine Dataset (2025)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Indian cuisine is underrepresented in food-image datasets, with high inter-class visual similarity and regional complexity making standard models insufficient.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" name="Google Shape;64;p6"/>
          <p:cNvGrpSpPr/>
          <p:nvPr/>
        </p:nvGrpSpPr>
        <p:grpSpPr>
          <a:xfrm>
            <a:off x="4743450" y="1190625"/>
            <a:ext cx="3943200" cy="1428900"/>
            <a:chOff x="4743450" y="1190625"/>
            <a:chExt cx="3943200" cy="1428900"/>
          </a:xfrm>
        </p:grpSpPr>
        <p:sp>
          <p:nvSpPr>
            <p:cNvPr id="65" name="Google Shape;65;p6"/>
            <p:cNvSpPr/>
            <p:nvPr/>
          </p:nvSpPr>
          <p:spPr>
            <a:xfrm>
              <a:off x="4743450" y="119062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933950" y="138112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 txBox="1"/>
            <p:nvPr/>
          </p:nvSpPr>
          <p:spPr>
            <a:xfrm>
              <a:off x="5048250" y="138112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What is there in an Indian Thali? &amp; Lightweight DeepLabv3+ (2025)</a:t>
              </a:r>
              <a:endParaRPr b="1" sz="11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Multi-item meal detection is difficult due to overlap, occlusion, and high computational cost.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6"/>
          <p:cNvGrpSpPr/>
          <p:nvPr/>
        </p:nvGrpSpPr>
        <p:grpSpPr>
          <a:xfrm>
            <a:off x="457200" y="2809875"/>
            <a:ext cx="3943200" cy="1428900"/>
            <a:chOff x="457200" y="2809875"/>
            <a:chExt cx="3943200" cy="1428900"/>
          </a:xfrm>
        </p:grpSpPr>
        <p:sp>
          <p:nvSpPr>
            <p:cNvPr id="69" name="Google Shape;69;p6"/>
            <p:cNvSpPr/>
            <p:nvPr/>
          </p:nvSpPr>
          <p:spPr>
            <a:xfrm>
              <a:off x="457200" y="280987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647700" y="300037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F970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 txBox="1"/>
            <p:nvPr/>
          </p:nvSpPr>
          <p:spPr>
            <a:xfrm>
              <a:off x="762000" y="300037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97066"/>
                  </a:solidFill>
                  <a:latin typeface="Inter"/>
                  <a:ea typeface="Inter"/>
                  <a:cs typeface="Inter"/>
                  <a:sym typeface="Inter"/>
                </a:rPr>
                <a:t>Indian Food Composition Database &amp; Enhancing FKG.in (2024)</a:t>
              </a:r>
              <a:endParaRPr b="1" sz="1100">
                <a:solidFill>
                  <a:srgbClr val="F970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Existing nutrition resources cover raw ingredients but are less accurate for cooked composite Indian dishes.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" name="Google Shape;72;p6"/>
          <p:cNvGrpSpPr/>
          <p:nvPr/>
        </p:nvGrpSpPr>
        <p:grpSpPr>
          <a:xfrm>
            <a:off x="4743450" y="2809875"/>
            <a:ext cx="3943200" cy="1428900"/>
            <a:chOff x="4743450" y="2809875"/>
            <a:chExt cx="3943200" cy="1428900"/>
          </a:xfrm>
        </p:grpSpPr>
        <p:sp>
          <p:nvSpPr>
            <p:cNvPr id="73" name="Google Shape;73;p6"/>
            <p:cNvSpPr/>
            <p:nvPr/>
          </p:nvSpPr>
          <p:spPr>
            <a:xfrm>
              <a:off x="4743450" y="2809875"/>
              <a:ext cx="39432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4933950" y="300037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 txBox="1"/>
            <p:nvPr/>
          </p:nvSpPr>
          <p:spPr>
            <a:xfrm>
              <a:off x="5048250" y="3000375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AI-Driven Personalized Meal Planning &amp; NutriGen (2025)</a:t>
              </a:r>
              <a:endParaRPr b="1" sz="11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Dietary systems are shifting from passive food logging toward active, culturally-aware personalized recommendation engines.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" name="Google Shape;76;p6"/>
          <p:cNvSpPr/>
          <p:nvPr/>
        </p:nvSpPr>
        <p:spPr>
          <a:xfrm>
            <a:off x="457200" y="1066800"/>
            <a:ext cx="457200" cy="285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7673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457200" y="1568648"/>
            <a:ext cx="4038600" cy="996851"/>
          </a:xfrm>
          <a:prstGeom prst="roundRect">
            <a:avLst>
              <a:gd fmla="val 12842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79996" y="1760934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648200" y="1568648"/>
            <a:ext cx="4038600" cy="996851"/>
          </a:xfrm>
          <a:prstGeom prst="roundRect">
            <a:avLst>
              <a:gd fmla="val 12842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870996" y="1760934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2717899"/>
            <a:ext cx="4038600" cy="1179612"/>
          </a:xfrm>
          <a:prstGeom prst="roundRect">
            <a:avLst>
              <a:gd fmla="val 108524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79996" y="2910185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648200" y="2717899"/>
            <a:ext cx="4038600" cy="1179612"/>
          </a:xfrm>
          <a:prstGeom prst="roundRect">
            <a:avLst>
              <a:gd fmla="val 108524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870996" y="2910185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" y="4049911"/>
            <a:ext cx="8229600" cy="658118"/>
          </a:xfrm>
          <a:prstGeom prst="roundRect">
            <a:avLst>
              <a:gd fmla="val 166730" name="adj"/>
            </a:avLst>
          </a:prstGeom>
          <a:solidFill>
            <a:srgbClr val="2563EB">
              <a:alpha val="5882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93390" y="4186982"/>
            <a:ext cx="304800" cy="304800"/>
          </a:xfrm>
          <a:prstGeom prst="roundRect">
            <a:avLst>
              <a:gd fmla="val 240000" name="adj"/>
            </a:avLst>
          </a:prstGeom>
          <a:solidFill>
            <a:srgbClr val="EF4444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57200" y="656332"/>
            <a:ext cx="8394192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Gap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121866" y="1760934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Indian Food Underrepresented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121866" y="2007691"/>
            <a:ext cx="315113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Existing systems do not address the visual complexity and regional diversity of Indian cuisine.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312866" y="1760934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Poor Multi-Item Detection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312866" y="2007691"/>
            <a:ext cx="315113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Many solutions cannot detect multiple food items in one image, which is common in real Indian meals.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121866" y="2910185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Inaccurate Nutrition Mapping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121866" y="3156942"/>
            <a:ext cx="315113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Accurate nutrition data for cooked Indian dishes is difficult to obtain from raw-ingredient databases.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312866" y="2910185"/>
            <a:ext cx="3214161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 Integrated Pipeline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312866" y="3156942"/>
            <a:ext cx="3151138" cy="548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60"/>
              <a:buFont typeface="Inter"/>
              <a:buNone/>
            </a:pPr>
            <a:r>
              <a:rPr b="0" i="0" lang="en-US" sz="9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Food recognition and nutrition analysis are often treated as separate tasks, lacking a seamless end-to-end system.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35261" y="4186982"/>
            <a:ext cx="7353449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8"/>
              <a:buFont typeface="Inter"/>
              <a:buNone/>
            </a:pPr>
            <a:r>
              <a:rPr b="1" i="0" lang="en-US" sz="1008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Future Scope Gap:</a:t>
            </a:r>
            <a:r>
              <a:rPr b="0" i="0" lang="en-US" sz="1008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There is a need to transition from passive food detection toward active, personalized dietary recommendation systems.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0321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457200" y="1321296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57200" y="2262188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57200" y="3203079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57200" y="4143970"/>
            <a:ext cx="8229600" cy="811411"/>
          </a:xfrm>
          <a:prstGeom prst="roundRect">
            <a:avLst>
              <a:gd fmla="val 15777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19050">
              <a:srgbClr val="000000">
                <a:alpha val="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408980"/>
            <a:ext cx="8394192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Objectives of the Study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79996" y="1498402"/>
            <a:ext cx="5246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377107" y="1512838"/>
            <a:ext cx="6004179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Indian Food Recognition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1377107" y="1753493"/>
            <a:ext cx="600417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Recognize Indian food items from user-provided images using an AI-based object detection model.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99046" y="2439293"/>
            <a:ext cx="612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481882" y="2453729"/>
            <a:ext cx="6703695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Nutrition Mapping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481882" y="2694384"/>
            <a:ext cx="6703695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 detected food items to a nutrition database and display macronutrient details (calories, protein, fat, carbs).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79996" y="3380184"/>
            <a:ext cx="6120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462832" y="3394621"/>
            <a:ext cx="4605147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Multi-Item Support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462832" y="3635276"/>
            <a:ext cx="46051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Support simultaneous detection of multiple food items within a single image.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79996" y="4321076"/>
            <a:ext cx="6412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066"/>
              </a:buClr>
              <a:buSzPts val="3600"/>
              <a:buFont typeface="Plus Jakarta Sans"/>
              <a:buNone/>
            </a:pPr>
            <a:r>
              <a:rPr b="1" i="0" lang="en-US" sz="3600" u="none" cap="none" strike="noStrike">
                <a:solidFill>
                  <a:srgbClr val="F970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491407" y="4335512"/>
            <a:ext cx="4906328" cy="210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4"/>
              <a:buFont typeface="Inter"/>
              <a:buNone/>
            </a:pPr>
            <a:r>
              <a:rPr b="1" i="0" lang="en-US" sz="11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Web Interface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491407" y="4576167"/>
            <a:ext cx="4906328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4"/>
              <a:buFont typeface="Inter"/>
              <a:buNone/>
            </a:pP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Provide a simple drag-and-drop web interface accessible to </a:t>
            </a:r>
            <a:r>
              <a:rPr lang="en-US" sz="984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b="0" i="0" lang="en-US" sz="98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users.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18196"/>
            <a:ext cx="4572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457200" y="476250"/>
            <a:ext cx="8394300" cy="63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6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Workflow</a:t>
            </a:r>
            <a:endParaRPr b="1" i="0" sz="336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33" name="Google Shape;133;p9"/>
          <p:cNvGrpSpPr/>
          <p:nvPr/>
        </p:nvGrpSpPr>
        <p:grpSpPr>
          <a:xfrm>
            <a:off x="457200" y="1333500"/>
            <a:ext cx="1962300" cy="2095500"/>
            <a:chOff x="457200" y="1333500"/>
            <a:chExt cx="1962300" cy="2095500"/>
          </a:xfrm>
        </p:grpSpPr>
        <p:sp>
          <p:nvSpPr>
            <p:cNvPr id="134" name="Google Shape;134;p9"/>
            <p:cNvSpPr/>
            <p:nvPr/>
          </p:nvSpPr>
          <p:spPr>
            <a:xfrm>
              <a:off x="457200" y="1333500"/>
              <a:ext cx="1962300" cy="2095500"/>
            </a:xfrm>
            <a:prstGeom prst="roundRect">
              <a:avLst>
                <a:gd fmla="val 77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9"/>
            <p:cNvSpPr txBox="1"/>
            <p:nvPr/>
          </p:nvSpPr>
          <p:spPr>
            <a:xfrm>
              <a:off x="457200" y="1333500"/>
              <a:ext cx="19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latin typeface="Inter"/>
                  <a:ea typeface="Inter"/>
                  <a:cs typeface="Inter"/>
                  <a:sym typeface="Inter"/>
                </a:rPr>
                <a:t>📸</a:t>
              </a:r>
              <a:endParaRPr sz="2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Image Upload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User uploads a food photo via the drag-and-drop web interface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9"/>
          <p:cNvGrpSpPr/>
          <p:nvPr/>
        </p:nvGrpSpPr>
        <p:grpSpPr>
          <a:xfrm>
            <a:off x="2533650" y="1333500"/>
            <a:ext cx="1962300" cy="2095500"/>
            <a:chOff x="2533650" y="1333500"/>
            <a:chExt cx="1962300" cy="2095500"/>
          </a:xfrm>
        </p:grpSpPr>
        <p:sp>
          <p:nvSpPr>
            <p:cNvPr id="137" name="Google Shape;137;p9"/>
            <p:cNvSpPr/>
            <p:nvPr/>
          </p:nvSpPr>
          <p:spPr>
            <a:xfrm>
              <a:off x="2533650" y="1333500"/>
              <a:ext cx="1962300" cy="2095500"/>
            </a:xfrm>
            <a:prstGeom prst="roundRect">
              <a:avLst>
                <a:gd fmla="val 7766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9"/>
            <p:cNvSpPr txBox="1"/>
            <p:nvPr/>
          </p:nvSpPr>
          <p:spPr>
            <a:xfrm>
              <a:off x="2533650" y="1333500"/>
              <a:ext cx="19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latin typeface="Inter"/>
                  <a:ea typeface="Inter"/>
                  <a:cs typeface="Inter"/>
                  <a:sym typeface="Inter"/>
                </a:rPr>
                <a:t>🧠</a:t>
              </a:r>
              <a:endParaRPr sz="2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Food Detection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YOLO11s model detects and labels all food items in the image</a:t>
              </a:r>
              <a:endParaRPr sz="10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9" name="Google Shape;139;p9"/>
          <p:cNvGrpSpPr/>
          <p:nvPr/>
        </p:nvGrpSpPr>
        <p:grpSpPr>
          <a:xfrm>
            <a:off x="4610100" y="1333500"/>
            <a:ext cx="1962300" cy="2095500"/>
            <a:chOff x="4610100" y="1333500"/>
            <a:chExt cx="1962300" cy="2095500"/>
          </a:xfrm>
        </p:grpSpPr>
        <p:sp>
          <p:nvSpPr>
            <p:cNvPr id="140" name="Google Shape;140;p9"/>
            <p:cNvSpPr/>
            <p:nvPr/>
          </p:nvSpPr>
          <p:spPr>
            <a:xfrm>
              <a:off x="4610100" y="1333500"/>
              <a:ext cx="1962300" cy="2095500"/>
            </a:xfrm>
            <a:prstGeom prst="roundRect">
              <a:avLst>
                <a:gd fmla="val 77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9"/>
            <p:cNvSpPr txBox="1"/>
            <p:nvPr/>
          </p:nvSpPr>
          <p:spPr>
            <a:xfrm>
              <a:off x="4610100" y="1333500"/>
              <a:ext cx="19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latin typeface="Inter"/>
                  <a:ea typeface="Inter"/>
                  <a:cs typeface="Inter"/>
                  <a:sym typeface="Inter"/>
                </a:rPr>
                <a:t>🗄️</a:t>
              </a:r>
              <a:endParaRPr sz="2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b="1" sz="9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DB Matching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Detected names matched with INDB nutrition database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9"/>
          <p:cNvGrpSpPr/>
          <p:nvPr/>
        </p:nvGrpSpPr>
        <p:grpSpPr>
          <a:xfrm>
            <a:off x="6686550" y="1333500"/>
            <a:ext cx="1962300" cy="2095500"/>
            <a:chOff x="6686550" y="1333500"/>
            <a:chExt cx="1962300" cy="2095500"/>
          </a:xfrm>
        </p:grpSpPr>
        <p:sp>
          <p:nvSpPr>
            <p:cNvPr id="143" name="Google Shape;143;p9"/>
            <p:cNvSpPr/>
            <p:nvPr/>
          </p:nvSpPr>
          <p:spPr>
            <a:xfrm>
              <a:off x="6686550" y="1333500"/>
              <a:ext cx="1962300" cy="2095500"/>
            </a:xfrm>
            <a:prstGeom prst="roundRect">
              <a:avLst>
                <a:gd fmla="val 7766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9"/>
            <p:cNvSpPr txBox="1"/>
            <p:nvPr/>
          </p:nvSpPr>
          <p:spPr>
            <a:xfrm>
              <a:off x="6686550" y="1333500"/>
              <a:ext cx="19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latin typeface="Inter"/>
                  <a:ea typeface="Inter"/>
                  <a:cs typeface="Inter"/>
                  <a:sym typeface="Inter"/>
                </a:rPr>
                <a:t>📊</a:t>
              </a:r>
              <a:endParaRPr sz="2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  <a:endParaRPr b="1" sz="9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Result Display</a:t>
              </a:r>
              <a:endParaRPr b="1" sz="14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UI shows food labels with bounding boxes and nutrition values</a:t>
              </a:r>
              <a:endParaRPr sz="1000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9"/>
          <p:cNvGrpSpPr/>
          <p:nvPr/>
        </p:nvGrpSpPr>
        <p:grpSpPr>
          <a:xfrm>
            <a:off x="457200" y="3619500"/>
            <a:ext cx="4038600" cy="952500"/>
            <a:chOff x="457200" y="3619500"/>
            <a:chExt cx="4038600" cy="952500"/>
          </a:xfrm>
        </p:grpSpPr>
        <p:sp>
          <p:nvSpPr>
            <p:cNvPr id="146" name="Google Shape;146;p9"/>
            <p:cNvSpPr/>
            <p:nvPr/>
          </p:nvSpPr>
          <p:spPr>
            <a:xfrm>
              <a:off x="457200" y="3619500"/>
              <a:ext cx="40386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9"/>
            <p:cNvSpPr txBox="1"/>
            <p:nvPr/>
          </p:nvSpPr>
          <p:spPr>
            <a:xfrm>
              <a:off x="647700" y="3619500"/>
              <a:ext cx="476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/>
                <a:t>⚙️</a:t>
              </a:r>
              <a:endParaRPr sz="2400"/>
            </a:p>
          </p:txBody>
        </p:sp>
        <p:sp>
          <p:nvSpPr>
            <p:cNvPr id="148" name="Google Shape;148;p9"/>
            <p:cNvSpPr txBox="1"/>
            <p:nvPr/>
          </p:nvSpPr>
          <p:spPr>
            <a:xfrm>
              <a:off x="1123950" y="3619500"/>
              <a:ext cx="3181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Backend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FastAPI server handles inference and DB lookup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9"/>
          <p:cNvGrpSpPr/>
          <p:nvPr/>
        </p:nvGrpSpPr>
        <p:grpSpPr>
          <a:xfrm>
            <a:off x="4648200" y="3619500"/>
            <a:ext cx="4038600" cy="952500"/>
            <a:chOff x="4648200" y="3619500"/>
            <a:chExt cx="4038600" cy="952500"/>
          </a:xfrm>
        </p:grpSpPr>
        <p:sp>
          <p:nvSpPr>
            <p:cNvPr id="150" name="Google Shape;150;p9"/>
            <p:cNvSpPr/>
            <p:nvPr/>
          </p:nvSpPr>
          <p:spPr>
            <a:xfrm>
              <a:off x="4648200" y="3619500"/>
              <a:ext cx="40386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9"/>
            <p:cNvSpPr txBox="1"/>
            <p:nvPr/>
          </p:nvSpPr>
          <p:spPr>
            <a:xfrm>
              <a:off x="4838700" y="3619500"/>
              <a:ext cx="476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/>
                <a:t>🖥️</a:t>
              </a:r>
              <a:endParaRPr sz="2400"/>
            </a:p>
          </p:txBody>
        </p:sp>
        <p:sp>
          <p:nvSpPr>
            <p:cNvPr id="152" name="Google Shape;152;p9"/>
            <p:cNvSpPr txBox="1"/>
            <p:nvPr/>
          </p:nvSpPr>
          <p:spPr>
            <a:xfrm>
              <a:off x="5314950" y="3619500"/>
              <a:ext cx="3181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Frontend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Next.js UI renders bounding boxes and nutrition panel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0"/>
          <p:cNvGrpSpPr/>
          <p:nvPr/>
        </p:nvGrpSpPr>
        <p:grpSpPr>
          <a:xfrm>
            <a:off x="457200" y="1524000"/>
            <a:ext cx="4019700" cy="1143000"/>
            <a:chOff x="457200" y="1524000"/>
            <a:chExt cx="4019700" cy="1143000"/>
          </a:xfrm>
        </p:grpSpPr>
        <p:sp>
          <p:nvSpPr>
            <p:cNvPr id="159" name="Google Shape;159;p10"/>
            <p:cNvSpPr/>
            <p:nvPr/>
          </p:nvSpPr>
          <p:spPr>
            <a:xfrm>
              <a:off x="457200" y="1524000"/>
              <a:ext cx="40197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609600" y="16764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0"/>
            <p:cNvSpPr txBox="1"/>
            <p:nvPr/>
          </p:nvSpPr>
          <p:spPr>
            <a:xfrm>
              <a:off x="609600" y="17026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computer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2" name="Google Shape;162;p10"/>
            <p:cNvSpPr txBox="1"/>
            <p:nvPr/>
          </p:nvSpPr>
          <p:spPr>
            <a:xfrm>
              <a:off x="1066800" y="16764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Frontend</a:t>
              </a:r>
              <a:endParaRPr b="1" sz="14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3" name="Google Shape;163;p10"/>
            <p:cNvSpPr txBox="1"/>
            <p:nvPr/>
          </p:nvSpPr>
          <p:spPr>
            <a:xfrm>
              <a:off x="609600" y="2076450"/>
              <a:ext cx="37149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Next.js 14: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React-based framework for the web interface.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TypeScript: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Statically typed language for UI reliability.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Tailwind CSS: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Utility-first framework for responsive design.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10"/>
          <p:cNvGrpSpPr/>
          <p:nvPr/>
        </p:nvGrpSpPr>
        <p:grpSpPr>
          <a:xfrm>
            <a:off x="4667250" y="1524000"/>
            <a:ext cx="4019700" cy="1143000"/>
            <a:chOff x="4667250" y="1524000"/>
            <a:chExt cx="4019700" cy="1143000"/>
          </a:xfrm>
        </p:grpSpPr>
        <p:sp>
          <p:nvSpPr>
            <p:cNvPr id="165" name="Google Shape;165;p10"/>
            <p:cNvSpPr/>
            <p:nvPr/>
          </p:nvSpPr>
          <p:spPr>
            <a:xfrm>
              <a:off x="4667250" y="1524000"/>
              <a:ext cx="40197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4819650" y="16764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0"/>
            <p:cNvSpPr txBox="1"/>
            <p:nvPr/>
          </p:nvSpPr>
          <p:spPr>
            <a:xfrm>
              <a:off x="4819650" y="17026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1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8" name="Google Shape;168;p10"/>
            <p:cNvSpPr txBox="1"/>
            <p:nvPr/>
          </p:nvSpPr>
          <p:spPr>
            <a:xfrm>
              <a:off x="5276850" y="16764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7C3AE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Backend</a:t>
              </a:r>
              <a:endParaRPr b="1" sz="1400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4819650" y="2076450"/>
              <a:ext cx="37149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FastAPI: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Python framework for REST API and services.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Python: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Primary language for logic and inference.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SQLite: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Relational storage for nutritional metadata.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0"/>
          <p:cNvGrpSpPr/>
          <p:nvPr/>
        </p:nvGrpSpPr>
        <p:grpSpPr>
          <a:xfrm>
            <a:off x="457200" y="2857500"/>
            <a:ext cx="4019700" cy="1714500"/>
            <a:chOff x="457200" y="2857500"/>
            <a:chExt cx="4019700" cy="1714500"/>
          </a:xfrm>
        </p:grpSpPr>
        <p:sp>
          <p:nvSpPr>
            <p:cNvPr id="171" name="Google Shape;171;p10"/>
            <p:cNvSpPr/>
            <p:nvPr/>
          </p:nvSpPr>
          <p:spPr>
            <a:xfrm>
              <a:off x="457200" y="2857500"/>
              <a:ext cx="40197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609600" y="30099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FFF7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0"/>
            <p:cNvSpPr txBox="1"/>
            <p:nvPr/>
          </p:nvSpPr>
          <p:spPr>
            <a:xfrm>
              <a:off x="609600" y="30361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970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800">
                <a:solidFill>
                  <a:srgbClr val="F970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4" name="Google Shape;174;p10"/>
            <p:cNvSpPr txBox="1"/>
            <p:nvPr/>
          </p:nvSpPr>
          <p:spPr>
            <a:xfrm>
              <a:off x="1066800" y="30099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9706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/ ML</a:t>
              </a:r>
              <a:endParaRPr b="1" sz="1400">
                <a:solidFill>
                  <a:srgbClr val="F9706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5" name="Google Shape;175;p10"/>
            <p:cNvSpPr txBox="1"/>
            <p:nvPr/>
          </p:nvSpPr>
          <p:spPr>
            <a:xfrm>
              <a:off x="609600" y="3409950"/>
              <a:ext cx="3714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YOLO11s: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Real-time model for food classification.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PyTorch: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Framework powering training and inference.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OpenCV: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Library for image pre-processing.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Pillow: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Imaging library for format normalization.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6" name="Google Shape;176;p10"/>
          <p:cNvGrpSpPr/>
          <p:nvPr/>
        </p:nvGrpSpPr>
        <p:grpSpPr>
          <a:xfrm>
            <a:off x="4667250" y="2857500"/>
            <a:ext cx="4019700" cy="1714500"/>
            <a:chOff x="4667250" y="2857500"/>
            <a:chExt cx="4019700" cy="1714500"/>
          </a:xfrm>
        </p:grpSpPr>
        <p:sp>
          <p:nvSpPr>
            <p:cNvPr id="177" name="Google Shape;177;p10"/>
            <p:cNvSpPr/>
            <p:nvPr/>
          </p:nvSpPr>
          <p:spPr>
            <a:xfrm>
              <a:off x="4667250" y="2857500"/>
              <a:ext cx="40197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4819650" y="30099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0"/>
            <p:cNvSpPr txBox="1"/>
            <p:nvPr/>
          </p:nvSpPr>
          <p:spPr>
            <a:xfrm>
              <a:off x="4819650" y="30361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1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0" name="Google Shape;180;p10"/>
            <p:cNvSpPr txBox="1"/>
            <p:nvPr/>
          </p:nvSpPr>
          <p:spPr>
            <a:xfrm>
              <a:off x="5276850" y="30099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Datasets</a:t>
              </a:r>
              <a:endParaRPr b="1" sz="140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81" name="Google Shape;181;p10"/>
            <p:cNvSpPr txBox="1"/>
            <p:nvPr/>
          </p:nvSpPr>
          <p:spPr>
            <a:xfrm>
              <a:off x="4819650" y="3409950"/>
              <a:ext cx="3714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IndianFoodNet-30 (Roboflow):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Annotated food images used for supervised model training.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Nutritional Values 2025 (Kaggle):</a:t>
              </a: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Macronutrient mapping data for the DB.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2" name="Google Shape;182;p10"/>
          <p:cNvSpPr/>
          <p:nvPr/>
        </p:nvSpPr>
        <p:spPr>
          <a:xfrm>
            <a:off x="457200" y="938213"/>
            <a:ext cx="8394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59"/>
              <a:buFont typeface="Plus Jakarta Sans"/>
              <a:buNone/>
            </a:pPr>
            <a:r>
              <a:rPr b="1" i="0" lang="en-US" sz="336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Technologies, Tools &amp; Datasets</a:t>
            </a:r>
            <a:endParaRPr b="0" i="0" sz="3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/>
        </p:nvSpPr>
        <p:spPr>
          <a:xfrm>
            <a:off x="457200" y="2476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 Snippets</a:t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87" name="Google Shape;187;p11"/>
          <p:cNvGrpSpPr/>
          <p:nvPr/>
        </p:nvGrpSpPr>
        <p:grpSpPr>
          <a:xfrm>
            <a:off x="266700" y="857325"/>
            <a:ext cx="4305300" cy="3905175"/>
            <a:chOff x="-38100" y="-95175"/>
            <a:chExt cx="4305300" cy="3905175"/>
          </a:xfrm>
        </p:grpSpPr>
        <p:sp>
          <p:nvSpPr>
            <p:cNvPr id="188" name="Google Shape;188;p11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4" name="Google Shape;194;p11" title="Screenshot 2026-04-14 220353.png"/>
            <p:cNvPicPr preferRelativeResize="0"/>
            <p:nvPr/>
          </p:nvPicPr>
          <p:blipFill rotWithShape="1">
            <a:blip r:embed="rId3">
              <a:alphaModFix/>
            </a:blip>
            <a:srcRect b="1419" l="0" r="0" t="1419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195" name="Google Shape;195;p11"/>
            <p:cNvSpPr txBox="1"/>
            <p:nvPr/>
          </p:nvSpPr>
          <p:spPr>
            <a:xfrm>
              <a:off x="-3810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Model Training</a:t>
              </a:r>
              <a:endParaRPr b="1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11"/>
          <p:cNvGrpSpPr/>
          <p:nvPr/>
        </p:nvGrpSpPr>
        <p:grpSpPr>
          <a:xfrm>
            <a:off x="4572000" y="857325"/>
            <a:ext cx="4267200" cy="3905175"/>
            <a:chOff x="0" y="-95175"/>
            <a:chExt cx="4267200" cy="3905175"/>
          </a:xfrm>
        </p:grpSpPr>
        <p:sp>
          <p:nvSpPr>
            <p:cNvPr id="197" name="Google Shape;197;p11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3" name="Google Shape;203;p11" title="Screenshot 2026-04-14 221356.png"/>
            <p:cNvPicPr preferRelativeResize="0"/>
            <p:nvPr/>
          </p:nvPicPr>
          <p:blipFill rotWithShape="1">
            <a:blip r:embed="rId4">
              <a:alphaModFix/>
            </a:blip>
            <a:srcRect b="3087" l="0" r="0" t="3078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04" name="Google Shape;204;p11"/>
            <p:cNvSpPr txBox="1"/>
            <p:nvPr/>
          </p:nvSpPr>
          <p:spPr>
            <a:xfrm>
              <a:off x="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Yolo Inference (Food Detection)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/>
          <p:nvPr/>
        </p:nvSpPr>
        <p:spPr>
          <a:xfrm>
            <a:off x="457200" y="2476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 Snippets</a:t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09" name="Google Shape;209;p12"/>
          <p:cNvGrpSpPr/>
          <p:nvPr/>
        </p:nvGrpSpPr>
        <p:grpSpPr>
          <a:xfrm>
            <a:off x="266700" y="857325"/>
            <a:ext cx="4305300" cy="3905175"/>
            <a:chOff x="-38100" y="-95175"/>
            <a:chExt cx="4305300" cy="3905175"/>
          </a:xfrm>
        </p:grpSpPr>
        <p:sp>
          <p:nvSpPr>
            <p:cNvPr id="210" name="Google Shape;210;p12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6" name="Google Shape;216;p12" title="Screenshot 2026-04-14 221916.png"/>
            <p:cNvPicPr preferRelativeResize="0"/>
            <p:nvPr/>
          </p:nvPicPr>
          <p:blipFill rotWithShape="1">
            <a:blip r:embed="rId3">
              <a:alphaModFix/>
            </a:blip>
            <a:srcRect b="0" l="3445" r="3454" t="0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17" name="Google Shape;217;p12"/>
            <p:cNvSpPr txBox="1"/>
            <p:nvPr/>
          </p:nvSpPr>
          <p:spPr>
            <a:xfrm>
              <a:off x="-3810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Nutrition Mapping</a:t>
              </a:r>
              <a:endParaRPr b="1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12"/>
          <p:cNvGrpSpPr/>
          <p:nvPr/>
        </p:nvGrpSpPr>
        <p:grpSpPr>
          <a:xfrm>
            <a:off x="4572000" y="857325"/>
            <a:ext cx="4267200" cy="3905175"/>
            <a:chOff x="0" y="-95175"/>
            <a:chExt cx="4267200" cy="3905175"/>
          </a:xfrm>
        </p:grpSpPr>
        <p:sp>
          <p:nvSpPr>
            <p:cNvPr id="219" name="Google Shape;219;p12"/>
            <p:cNvSpPr/>
            <p:nvPr/>
          </p:nvSpPr>
          <p:spPr>
            <a:xfrm>
              <a:off x="0" y="0"/>
              <a:ext cx="4267200" cy="3810000"/>
            </a:xfrm>
            <a:prstGeom prst="roundRect">
              <a:avLst>
                <a:gd fmla="val 6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2"/>
            <p:cNvSpPr/>
            <p:nvPr/>
          </p:nvSpPr>
          <p:spPr>
            <a:xfrm>
              <a:off x="0" y="0"/>
              <a:ext cx="4267200" cy="381000"/>
            </a:xfrm>
            <a:prstGeom prst="roundRect">
              <a:avLst>
                <a:gd fmla="val 50000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0" y="190500"/>
              <a:ext cx="4267200" cy="1905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180975" y="1428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333375" y="1428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85775" y="1428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5" name="Google Shape;225;p12" title="Screenshot 2026-04-14 222125.png"/>
            <p:cNvPicPr preferRelativeResize="0"/>
            <p:nvPr/>
          </p:nvPicPr>
          <p:blipFill rotWithShape="1">
            <a:blip r:embed="rId4">
              <a:alphaModFix/>
            </a:blip>
            <a:srcRect b="13071" l="0" r="0" t="13079"/>
            <a:stretch/>
          </p:blipFill>
          <p:spPr>
            <a:xfrm>
              <a:off x="76200" y="476250"/>
              <a:ext cx="4114800" cy="3238500"/>
            </a:xfrm>
            <a:prstGeom prst="roundRect">
              <a:avLst>
                <a:gd fmla="val 5882" name="adj"/>
              </a:avLst>
            </a:prstGeom>
            <a:noFill/>
            <a:ln>
              <a:noFill/>
            </a:ln>
          </p:spPr>
        </p:pic>
        <p:sp>
          <p:nvSpPr>
            <p:cNvPr id="226" name="Google Shape;226;p12"/>
            <p:cNvSpPr txBox="1"/>
            <p:nvPr/>
          </p:nvSpPr>
          <p:spPr>
            <a:xfrm>
              <a:off x="0" y="-95175"/>
              <a:ext cx="42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Frontend</a:t>
              </a:r>
              <a:endParaRPr b="1" sz="14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3"/>
          <p:cNvGrpSpPr/>
          <p:nvPr/>
        </p:nvGrpSpPr>
        <p:grpSpPr>
          <a:xfrm>
            <a:off x="3143324" y="952500"/>
            <a:ext cx="2952902" cy="3619500"/>
            <a:chOff x="3238500" y="952500"/>
            <a:chExt cx="2667000" cy="3619500"/>
          </a:xfrm>
        </p:grpSpPr>
        <p:sp>
          <p:nvSpPr>
            <p:cNvPr id="233" name="Google Shape;233;p13"/>
            <p:cNvSpPr/>
            <p:nvPr/>
          </p:nvSpPr>
          <p:spPr>
            <a:xfrm>
              <a:off x="3238500" y="952500"/>
              <a:ext cx="2667000" cy="3619500"/>
            </a:xfrm>
            <a:prstGeom prst="roundRect">
              <a:avLst>
                <a:gd fmla="val 7142" name="adj"/>
              </a:avLst>
            </a:prstGeom>
            <a:solidFill>
              <a:srgbClr val="EFF6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3238500" y="952500"/>
              <a:ext cx="2667000" cy="381000"/>
            </a:xfrm>
            <a:prstGeom prst="roundRect">
              <a:avLst>
                <a:gd fmla="val 50000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3238500" y="1143000"/>
              <a:ext cx="2667000" cy="1905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3381375" y="10953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3533775" y="10953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3686175" y="10953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3924300" y="1066800"/>
              <a:ext cx="1524000" cy="152400"/>
            </a:xfrm>
            <a:prstGeom prst="roundRect">
              <a:avLst>
                <a:gd fmla="val 50000" name="adj"/>
              </a:avLst>
            </a:prstGeom>
            <a:solidFill>
              <a:srgbClr val="BFDB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276600" y="3810000"/>
              <a:ext cx="2590800" cy="571500"/>
            </a:xfrm>
            <a:prstGeom prst="roundRect">
              <a:avLst>
                <a:gd fmla="val 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3"/>
            <p:cNvSpPr txBox="1"/>
            <p:nvPr/>
          </p:nvSpPr>
          <p:spPr>
            <a:xfrm>
              <a:off x="3238500" y="4000500"/>
              <a:ext cx="2667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Food Detection Output</a:t>
              </a:r>
              <a:endParaRPr b="1" sz="16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13"/>
          <p:cNvGrpSpPr/>
          <p:nvPr/>
        </p:nvGrpSpPr>
        <p:grpSpPr>
          <a:xfrm>
            <a:off x="6096000" y="952500"/>
            <a:ext cx="2762550" cy="3619500"/>
            <a:chOff x="6096000" y="952500"/>
            <a:chExt cx="2762550" cy="3619500"/>
          </a:xfrm>
        </p:grpSpPr>
        <p:sp>
          <p:nvSpPr>
            <p:cNvPr id="243" name="Google Shape;243;p13"/>
            <p:cNvSpPr/>
            <p:nvPr/>
          </p:nvSpPr>
          <p:spPr>
            <a:xfrm>
              <a:off x="6191250" y="952500"/>
              <a:ext cx="2667000" cy="3619500"/>
            </a:xfrm>
            <a:prstGeom prst="roundRect">
              <a:avLst>
                <a:gd fmla="val 7142" name="adj"/>
              </a:avLst>
            </a:prstGeom>
            <a:solidFill>
              <a:srgbClr val="F0FDF4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6191250" y="952500"/>
              <a:ext cx="2667000" cy="381000"/>
            </a:xfrm>
            <a:prstGeom prst="roundRect">
              <a:avLst>
                <a:gd fmla="val 50000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6191250" y="1143000"/>
              <a:ext cx="2667000" cy="190500"/>
            </a:xfrm>
            <a:prstGeom prst="rect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6334125" y="10953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6486525" y="10953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6638925" y="10953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6877050" y="1066800"/>
              <a:ext cx="1524000" cy="152400"/>
            </a:xfrm>
            <a:prstGeom prst="roundRect">
              <a:avLst>
                <a:gd fmla="val 50000" name="adj"/>
              </a:avLst>
            </a:prstGeom>
            <a:solidFill>
              <a:srgbClr val="BBF7D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6096000" y="3810000"/>
              <a:ext cx="2590800" cy="571500"/>
            </a:xfrm>
            <a:prstGeom prst="roundRect">
              <a:avLst>
                <a:gd fmla="val 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6191550" y="4000500"/>
              <a:ext cx="2667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5803D"/>
                  </a:solidFill>
                  <a:latin typeface="Inter"/>
                  <a:ea typeface="Inter"/>
                  <a:cs typeface="Inter"/>
                  <a:sym typeface="Inter"/>
                </a:rPr>
                <a:t>Nutrition Display</a:t>
              </a:r>
              <a:endParaRPr b="1" sz="160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2" name="Google Shape;252;p13"/>
          <p:cNvSpPr/>
          <p:nvPr/>
        </p:nvSpPr>
        <p:spPr>
          <a:xfrm>
            <a:off x="285750" y="28575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Screenshots</a:t>
            </a:r>
            <a:endParaRPr b="1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53" name="Google Shape;253;p13"/>
          <p:cNvGrpSpPr/>
          <p:nvPr/>
        </p:nvGrpSpPr>
        <p:grpSpPr>
          <a:xfrm>
            <a:off x="285750" y="952500"/>
            <a:ext cx="2762250" cy="3619500"/>
            <a:chOff x="285750" y="952500"/>
            <a:chExt cx="2762250" cy="3619500"/>
          </a:xfrm>
        </p:grpSpPr>
        <p:sp>
          <p:nvSpPr>
            <p:cNvPr id="254" name="Google Shape;254;p13"/>
            <p:cNvSpPr/>
            <p:nvPr/>
          </p:nvSpPr>
          <p:spPr>
            <a:xfrm>
              <a:off x="285750" y="952500"/>
              <a:ext cx="2667000" cy="3619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285750" y="952500"/>
              <a:ext cx="2667000" cy="381000"/>
            </a:xfrm>
            <a:prstGeom prst="roundRect">
              <a:avLst>
                <a:gd fmla="val 5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285750" y="1143000"/>
              <a:ext cx="2667000" cy="190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428625" y="1095375"/>
              <a:ext cx="95400" cy="954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581025" y="1095375"/>
              <a:ext cx="95400" cy="954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733425" y="1095375"/>
              <a:ext cx="95400" cy="95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971550" y="1066800"/>
              <a:ext cx="1524000" cy="1524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457200" y="3810000"/>
              <a:ext cx="2590800" cy="571500"/>
            </a:xfrm>
            <a:prstGeom prst="roundRect">
              <a:avLst>
                <a:gd fmla="val 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 txBox="1"/>
            <p:nvPr/>
          </p:nvSpPr>
          <p:spPr>
            <a:xfrm>
              <a:off x="285750" y="4000500"/>
              <a:ext cx="2667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Upload Interface</a:t>
              </a:r>
              <a:endParaRPr b="1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3" name="Google Shape;263;p13"/>
          <p:cNvGrpSpPr/>
          <p:nvPr/>
        </p:nvGrpSpPr>
        <p:grpSpPr>
          <a:xfrm>
            <a:off x="285755" y="1331104"/>
            <a:ext cx="2655551" cy="2579106"/>
            <a:chOff x="471488" y="1423988"/>
            <a:chExt cx="2295601" cy="2295599"/>
          </a:xfrm>
        </p:grpSpPr>
        <p:pic>
          <p:nvPicPr>
            <p:cNvPr descr="A clean, modern user interface of a web application showing a file upload area for images, minimalist design, soft shadows." id="264" name="Google Shape;26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6250" y="1428750"/>
              <a:ext cx="2286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pic>
          <p:nvPicPr>
            <p:cNvPr id="265" name="Google Shape;265;p13" title="Screenshot 2026-04-14 224820.png"/>
            <p:cNvPicPr preferRelativeResize="0"/>
            <p:nvPr/>
          </p:nvPicPr>
          <p:blipFill rotWithShape="1">
            <a:blip r:embed="rId4">
              <a:alphaModFix/>
            </a:blip>
            <a:srcRect b="0" l="19029" r="19029" t="0"/>
            <a:stretch/>
          </p:blipFill>
          <p:spPr>
            <a:xfrm>
              <a:off x="471488" y="1423988"/>
              <a:ext cx="2295601" cy="2295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" name="Google Shape;266;p13"/>
          <p:cNvGrpSpPr/>
          <p:nvPr/>
        </p:nvGrpSpPr>
        <p:grpSpPr>
          <a:xfrm>
            <a:off x="3142819" y="1331054"/>
            <a:ext cx="2952829" cy="2579107"/>
            <a:chOff x="3424238" y="1423988"/>
            <a:chExt cx="2295599" cy="2295600"/>
          </a:xfrm>
        </p:grpSpPr>
        <p:pic>
          <p:nvPicPr>
            <p:cNvPr descr="A screenshot of an AI model output showing a plate of Indian food with colorful bounding boxes and labels around different food items like 'Roti', 'Dal', and 'Rice'." id="267" name="Google Shape;26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29000" y="1428750"/>
              <a:ext cx="2286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pic>
          <p:nvPicPr>
            <p:cNvPr id="268" name="Google Shape;268;p13" title="Screenshot 2026-04-14 233702.png"/>
            <p:cNvPicPr preferRelativeResize="0"/>
            <p:nvPr/>
          </p:nvPicPr>
          <p:blipFill rotWithShape="1">
            <a:blip r:embed="rId6">
              <a:alphaModFix/>
            </a:blip>
            <a:srcRect b="10" l="0" r="0" t="10"/>
            <a:stretch/>
          </p:blipFill>
          <p:spPr>
            <a:xfrm>
              <a:off x="3424238" y="1423988"/>
              <a:ext cx="2295599" cy="229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13"/>
          <p:cNvGrpSpPr/>
          <p:nvPr/>
        </p:nvGrpSpPr>
        <p:grpSpPr>
          <a:xfrm>
            <a:off x="6202794" y="1331029"/>
            <a:ext cx="2655548" cy="2579107"/>
            <a:chOff x="6376988" y="1423988"/>
            <a:chExt cx="2295598" cy="2295600"/>
          </a:xfrm>
        </p:grpSpPr>
        <p:pic>
          <p:nvPicPr>
            <p:cNvPr descr="A professional data visualization dashboard or panel showing nutritional information with bar charts for calories, protein, carbs, and fats, clean green and white aesthetic." id="270" name="Google Shape;270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81750" y="1428750"/>
              <a:ext cx="2286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pic>
          <p:nvPicPr>
            <p:cNvPr id="271" name="Google Shape;271;p13" title="Screenshot 2026-04-14 233631.png"/>
            <p:cNvPicPr preferRelativeResize="0"/>
            <p:nvPr/>
          </p:nvPicPr>
          <p:blipFill rotWithShape="1">
            <a:blip r:embed="rId8">
              <a:alphaModFix/>
            </a:blip>
            <a:srcRect b="0" l="2015" r="2025" t="0"/>
            <a:stretch/>
          </p:blipFill>
          <p:spPr>
            <a:xfrm>
              <a:off x="6376988" y="1423988"/>
              <a:ext cx="2295598" cy="229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/>
          <p:nvPr/>
        </p:nvSpPr>
        <p:spPr>
          <a:xfrm>
            <a:off x="0" y="571500"/>
            <a:ext cx="9144000" cy="4572000"/>
          </a:xfrm>
          <a:prstGeom prst="roundRect">
            <a:avLst>
              <a:gd fmla="val 2857" name="adj"/>
            </a:avLst>
          </a:prstGeom>
          <a:solidFill>
            <a:srgbClr val="0F172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5400000" dist="76200">
              <a:srgbClr val="000000">
                <a:alpha val="1803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285750" y="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Demo</a:t>
            </a:r>
            <a:endParaRPr b="1" i="0" sz="3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79" name="Google Shape;279;p14" title="Project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150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Google Shape;2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13159"/>
            <a:ext cx="4114800" cy="4117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5"/>
          <p:cNvSpPr/>
          <p:nvPr/>
        </p:nvSpPr>
        <p:spPr>
          <a:xfrm>
            <a:off x="762000" y="1654373"/>
            <a:ext cx="342900" cy="28575"/>
          </a:xfrm>
          <a:prstGeom prst="roundRect">
            <a:avLst>
              <a:gd fmla="val 31680000" name="adj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762000" y="3666679"/>
            <a:ext cx="3505200" cy="628352"/>
          </a:xfrm>
          <a:prstGeom prst="roundRect">
            <a:avLst>
              <a:gd fmla="val 145524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572000" y="513159"/>
            <a:ext cx="4114800" cy="4117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38100">
              <a:srgbClr val="000000">
                <a:alpha val="588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680865"/>
            <a:ext cx="3429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5"/>
          <p:cNvSpPr/>
          <p:nvPr/>
        </p:nvSpPr>
        <p:spPr>
          <a:xfrm>
            <a:off x="4876800" y="1892201"/>
            <a:ext cx="3495675" cy="904280"/>
          </a:xfrm>
          <a:prstGeom prst="roundRect">
            <a:avLst>
              <a:gd fmla="val 101119" name="adj"/>
            </a:avLst>
          </a:prstGeom>
          <a:solidFill>
            <a:srgbClr val="FFF7ED"/>
          </a:solidFill>
          <a:ln cap="flat" cmpd="sng" w="9525">
            <a:solidFill>
              <a:srgbClr val="F9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876800" y="2948880"/>
            <a:ext cx="3495675" cy="904280"/>
          </a:xfrm>
          <a:prstGeom prst="roundRect">
            <a:avLst>
              <a:gd fmla="val 101119" name="adj"/>
            </a:avLst>
          </a:prstGeom>
          <a:solidFill>
            <a:srgbClr val="F8FAF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62000" y="848320"/>
            <a:ext cx="357530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762000" y="1099691"/>
            <a:ext cx="3575304" cy="402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40"/>
              <a:buFont typeface="Plus Jakarta Sans"/>
              <a:buNone/>
            </a:pPr>
            <a:r>
              <a:rPr b="1" i="0" lang="en-US" sz="264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We Built</a:t>
            </a:r>
            <a:endParaRPr b="0" i="0" sz="26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762000" y="1875234"/>
            <a:ext cx="13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996255" y="1865709"/>
            <a:ext cx="3270945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8"/>
              <a:buFont typeface="Inter"/>
              <a:buNone/>
            </a:pPr>
            <a:r>
              <a:rPr b="0" i="0" lang="en-US" sz="100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working system for real-time Indian food identification from images.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762000" y="2381101"/>
            <a:ext cx="13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996255" y="2371576"/>
            <a:ext cx="3270945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8"/>
              <a:buFont typeface="Inter"/>
              <a:buNone/>
            </a:pPr>
            <a:r>
              <a:rPr b="0" i="0" lang="en-US" sz="100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Integrated nutrition mapping using an Indian food nutrition database.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762000" y="2886968"/>
            <a:ext cx="130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996255" y="2877443"/>
            <a:ext cx="3270945" cy="575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8"/>
              <a:buFont typeface="Inter"/>
              <a:buNone/>
            </a:pPr>
            <a:r>
              <a:rPr b="0" i="0" lang="en-US" sz="100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accessible, web-based interface combining computer vision and nutritional intelligence in one pipeline.</a:t>
            </a:r>
            <a:endParaRPr b="0" i="0" sz="10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923925" y="3798094"/>
            <a:ext cx="3181350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Inter"/>
              <a:buNone/>
            </a:pPr>
            <a:r>
              <a:rPr b="0" i="1" lang="en-US" sz="9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Addresses the research gaps identified from current literature.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4876800" y="874812"/>
            <a:ext cx="356558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78"/>
              </a:lnSpc>
              <a:spcBef>
                <a:spcPts val="0"/>
              </a:spcBef>
              <a:spcAft>
                <a:spcPts val="0"/>
              </a:spcAft>
              <a:buClr>
                <a:srgbClr val="F97066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F97066"/>
                </a:solidFill>
                <a:latin typeface="Inter"/>
                <a:ea typeface="Inter"/>
                <a:cs typeface="Inter"/>
                <a:sym typeface="Inter"/>
              </a:rPr>
              <a:t>Future Work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876800" y="1126182"/>
            <a:ext cx="3565588" cy="402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40"/>
              <a:buFont typeface="Plus Jakarta Sans"/>
              <a:buNone/>
            </a:pPr>
            <a:r>
              <a:rPr b="1" i="0" lang="en-US" sz="264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Comes Next</a:t>
            </a:r>
            <a:endParaRPr b="0" i="0" sz="26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5053905" y="2184202"/>
            <a:ext cx="182317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8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79"/>
              <a:buFont typeface="Inter"/>
              <a:buNone/>
            </a:pPr>
            <a:r>
              <a:rPr b="0" i="0" lang="en-US" sz="16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5369719" y="2054126"/>
            <a:ext cx="2882164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Recommendation System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5369719" y="2277963"/>
            <a:ext cx="2825651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60"/>
              </a:lnSpc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35"/>
              <a:buFont typeface="Inter"/>
              <a:buNone/>
            </a:pPr>
            <a:r>
              <a:rPr b="0" i="0" lang="en-US" sz="936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AI-powered personalized dietary guidance based on detected food and user health goals.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5053905" y="3240881"/>
            <a:ext cx="182317" cy="320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8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79"/>
              <a:buFont typeface="Inter"/>
              <a:buNone/>
            </a:pPr>
            <a:r>
              <a:rPr b="0" i="0" lang="en-US" sz="16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5369719" y="3110805"/>
            <a:ext cx="2882164" cy="20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6"/>
              <a:buFont typeface="Inter"/>
              <a:buNone/>
            </a:pPr>
            <a:r>
              <a:rPr b="1" i="0" lang="en-US" sz="1056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Expanded Food Classes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5369719" y="3334643"/>
            <a:ext cx="2825651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1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5"/>
              <a:buFont typeface="Inter"/>
              <a:buNone/>
            </a:pPr>
            <a:r>
              <a:rPr b="0" i="0" lang="en-US" sz="936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Scale beyond 30 classes to cover a wider range of regional Indian dishes.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